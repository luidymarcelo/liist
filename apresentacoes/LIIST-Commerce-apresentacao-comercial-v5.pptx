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4acd7a27ed4619" /><Relationship Type="http://schemas.openxmlformats.org/officeDocument/2006/relationships/extended-properties" Target="/docProps/app.xml" Id="Raf4db9e6a0bf4d1e" /><Relationship Type="http://schemas.openxmlformats.org/officeDocument/2006/relationships/officeDocument" Target="/ppt/presentation.xml" Id="Rbefd33aa2f664f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263e4a516d4a4a"/>
  </p:sldMasterIdLst>
  <p:notesMasterIdLst>
    <p:notesMasterId xmlns:r="http://schemas.openxmlformats.org/officeDocument/2006/relationships" r:id="R28cb0443adab4548"/>
  </p:notesMasterIdLst>
  <p:sldIdLst>
    <p:sldId xmlns:r="http://schemas.openxmlformats.org/officeDocument/2006/relationships" id="256" r:id="Rf2a088d708a04b1f"/>
    <p:sldId xmlns:r="http://schemas.openxmlformats.org/officeDocument/2006/relationships" id="257" r:id="R5ac82ad86f154df0"/>
    <p:sldId xmlns:r="http://schemas.openxmlformats.org/officeDocument/2006/relationships" id="258" r:id="R057c1ec474a942b4"/>
    <p:sldId xmlns:r="http://schemas.openxmlformats.org/officeDocument/2006/relationships" id="259" r:id="R2dad0dcdce8b439c"/>
    <p:sldId xmlns:r="http://schemas.openxmlformats.org/officeDocument/2006/relationships" id="260" r:id="R1934dc25cf03443f"/>
    <p:sldId xmlns:r="http://schemas.openxmlformats.org/officeDocument/2006/relationships" id="261" r:id="R3b359d16c8874c63"/>
    <p:sldId xmlns:r="http://schemas.openxmlformats.org/officeDocument/2006/relationships" id="262" r:id="R0afadfd3fcf44bc7"/>
    <p:sldId xmlns:r="http://schemas.openxmlformats.org/officeDocument/2006/relationships" id="263" r:id="R0ccf28cd13574d4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44e33ff0384d3b" /><Relationship Type="http://schemas.openxmlformats.org/officeDocument/2006/relationships/slideMaster" Target="/ppt/slideMasters/slideMaster1.xml" Id="Rcd263e4a516d4a4a" /><Relationship Type="http://schemas.openxmlformats.org/officeDocument/2006/relationships/notesMaster" Target="/ppt/notesMasters/notesMaster1.xml" Id="R28cb0443adab4548" /><Relationship Type="http://schemas.openxmlformats.org/officeDocument/2006/relationships/presProps" Target="/ppt/presProps.xml" Id="R5ec47f628ffd4842" /><Relationship Type="http://schemas.openxmlformats.org/officeDocument/2006/relationships/tableStyles" Target="/ppt/tableStyles.xml" Id="Rfbc72065ca2f4f55" /><Relationship Type="http://schemas.openxmlformats.org/officeDocument/2006/relationships/slide" Target="/ppt/slides/slide1.xml" Id="Rf2a088d708a04b1f" /><Relationship Type="http://schemas.openxmlformats.org/officeDocument/2006/relationships/slide" Target="/ppt/slides/slide2.xml" Id="R5ac82ad86f154df0" /><Relationship Type="http://schemas.openxmlformats.org/officeDocument/2006/relationships/slide" Target="/ppt/slides/slide3.xml" Id="R057c1ec474a942b4" /><Relationship Type="http://schemas.openxmlformats.org/officeDocument/2006/relationships/slide" Target="/ppt/slides/slide4.xml" Id="R2dad0dcdce8b439c" /><Relationship Type="http://schemas.openxmlformats.org/officeDocument/2006/relationships/slide" Target="/ppt/slides/slide5.xml" Id="R1934dc25cf03443f" /><Relationship Type="http://schemas.openxmlformats.org/officeDocument/2006/relationships/slide" Target="/ppt/slides/slide6.xml" Id="R3b359d16c8874c63" /><Relationship Type="http://schemas.openxmlformats.org/officeDocument/2006/relationships/slide" Target="/ppt/slides/slide7.xml" Id="R0afadfd3fcf44bc7" /><Relationship Type="http://schemas.openxmlformats.org/officeDocument/2006/relationships/slide" Target="/ppt/slides/slide8.xml" Id="R0ccf28cd13574d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64d5949fcd46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3b3eca36594603" /><Relationship Type="http://schemas.openxmlformats.org/officeDocument/2006/relationships/notesMaster" Target="/ppt/notesMasters/notesMaster1.xml" Id="R60585bba303b4e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4c45fee1090488d" /><Relationship Type="http://schemas.openxmlformats.org/officeDocument/2006/relationships/notesMaster" Target="/ppt/notesMasters/notesMaster1.xml" Id="Rddbfa7a74a3346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5ac6bcadc9483f" /><Relationship Type="http://schemas.openxmlformats.org/officeDocument/2006/relationships/notesMaster" Target="/ppt/notesMasters/notesMaster1.xml" Id="R9675ea668aed43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4383ca10c74d2a" /><Relationship Type="http://schemas.openxmlformats.org/officeDocument/2006/relationships/notesMaster" Target="/ppt/notesMasters/notesMaster1.xml" Id="R54ec70e1f2cc45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3f51f5d5aa4b57" /><Relationship Type="http://schemas.openxmlformats.org/officeDocument/2006/relationships/notesMaster" Target="/ppt/notesMasters/notesMaster1.xml" Id="Rced634a79c1d4a3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c97451f6f6457b" /><Relationship Type="http://schemas.openxmlformats.org/officeDocument/2006/relationships/notesMaster" Target="/ppt/notesMasters/notesMaster1.xml" Id="R3df3b8caaae94da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cb2b0ef5b7d46f2" /><Relationship Type="http://schemas.openxmlformats.org/officeDocument/2006/relationships/notesMaster" Target="/ppt/notesMasters/notesMaster1.xml" Id="R30a6df970d7d493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76112b3abec4183" /><Relationship Type="http://schemas.openxmlformats.org/officeDocument/2006/relationships/notesMaster" Target="/ppt/notesMasters/notesMaster1.xml" Id="Rcced9f322d2a45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Print capturado do ambiente local do LIIST Commerce.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Print capturado do ambiente local do LIIST Commerce.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Print capturado do ambiente local do LIIST Commerce.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63d64f04d346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1365f677264fa6" /><Relationship Type="http://schemas.openxmlformats.org/officeDocument/2006/relationships/slideLayout" Target="/ppt/slideLayouts/slideLayout1.xml" Id="R77e0690cdff649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e0690cdff649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b5150524c14faa" /><Relationship Type="http://schemas.openxmlformats.org/officeDocument/2006/relationships/image" Target="/ppt/media/image.png" Id="Rd1c5fb2546644e3d" /><Relationship Type="http://schemas.openxmlformats.org/officeDocument/2006/relationships/image" Target="/ppt/media/image2.png" Id="R1d423648e8554aab" /><Relationship Type="http://schemas.openxmlformats.org/officeDocument/2006/relationships/notesSlide" Target="/ppt/notesSlides/notesSlide1.xml" Id="Rb80568ef312148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2bbb69e2654341" /><Relationship Type="http://schemas.openxmlformats.org/officeDocument/2006/relationships/notesSlide" Target="/ppt/notesSlides/notesSlide2.xml" Id="R832368cfdf7b4d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027f671265443e" /><Relationship Type="http://schemas.openxmlformats.org/officeDocument/2006/relationships/image" Target="/ppt/media/image3.png" Id="Rcad446af0b3c47a3" /><Relationship Type="http://schemas.openxmlformats.org/officeDocument/2006/relationships/image" Target="/ppt/media/image4.png" Id="Rf0b397790dd349c3" /><Relationship Type="http://schemas.openxmlformats.org/officeDocument/2006/relationships/notesSlide" Target="/ppt/notesSlides/notesSlide3.xml" Id="R40d40702806e4e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43c1cce2ad4c15" /><Relationship Type="http://schemas.openxmlformats.org/officeDocument/2006/relationships/image" Target="/ppt/media/image5.png" Id="Rc9d4cbb64ba14d75" /><Relationship Type="http://schemas.openxmlformats.org/officeDocument/2006/relationships/image" Target="/ppt/media/image6.png" Id="R1d4abb144a974acc" /><Relationship Type="http://schemas.openxmlformats.org/officeDocument/2006/relationships/notesSlide" Target="/ppt/notesSlides/notesSlide4.xml" Id="Rc48e2a1c0b0848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8677786cdd4b67" /><Relationship Type="http://schemas.openxmlformats.org/officeDocument/2006/relationships/image" Target="/ppt/media/image7.png" Id="R47ca4d89fccf41e0" /><Relationship Type="http://schemas.openxmlformats.org/officeDocument/2006/relationships/notesSlide" Target="/ppt/notesSlides/notesSlide5.xml" Id="R76951bbbfd484f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f16be0423c4dfc" /><Relationship Type="http://schemas.openxmlformats.org/officeDocument/2006/relationships/notesSlide" Target="/ppt/notesSlides/notesSlide6.xml" Id="Rc4a0b62fe41d4cb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b25f8b41c44787" /><Relationship Type="http://schemas.openxmlformats.org/officeDocument/2006/relationships/notesSlide" Target="/ppt/notesSlides/notesSlide7.xml" Id="R521a24b1a70940b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967b79b51342da" /><Relationship Type="http://schemas.openxmlformats.org/officeDocument/2006/relationships/image" Target="/ppt/media/image8.png" Id="R6fa4b34985a243e3" /><Relationship Type="http://schemas.openxmlformats.org/officeDocument/2006/relationships/notesSlide" Target="/ppt/notesSlides/notesSlide8.xml" Id="R80a7f2cee1ab4b3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5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c5fb2546644e3d"/>
          <a:stretch xmlns:a="http://schemas.openxmlformats.org/drawingml/2006/main"/>
        </p:blipFill>
        <p:spPr>
          <a:xfrm xmlns:a="http://schemas.openxmlformats.org/drawingml/2006/main">
            <a:off x="685800" y="514350"/>
            <a:ext cx="493776" cy="49377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0B6DD4-0CF3-4FDE-83AF-B13925B6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876" y="545211"/>
            <a:ext cx="1851660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239"/>
          </a:bodyPr>
          <a:lstStyle xmlns:a="http://schemas.openxmlformats.org/drawingml/2006/main"/>
          <a:p xmlns:a="http://schemas.openxmlformats.org/drawingml/2006/main">
            <a:pPr>
              <a:defRPr sz="1782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82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6B4AFF-6313-4707-850E-0669F936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876" y="802386"/>
            <a:ext cx="185166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25"/>
          </a:bodyPr>
          <a:lstStyle xmlns:a="http://schemas.openxmlformats.org/drawingml/2006/main"/>
          <a:p xmlns:a="http://schemas.openxmlformats.org/drawingml/2006/main">
            <a:pPr>
              <a:defRPr sz="1053" b="0">
                <a:solidFill>
                  <a:srgbClr val="BFD4CC"/>
                </a:solidFill>
                <a:latin typeface="Aptos"/>
                <a:ea typeface="Aptos"/>
                <a:cs typeface="Aptos"/>
              </a:defRPr>
            </a:pPr>
            <a:r>
              <a:rPr sz="1053" b="0">
                <a:solidFill>
                  <a:srgbClr val="BFD4CC"/>
                </a:solidFill>
                <a:latin typeface="Aptos"/>
                <a:ea typeface="Aptos"/>
                <a:cs typeface="Aptos"/>
              </a:rPr>
              <a:t>Commerce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CC2558-9562-4005-8671-BDB052C6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876" y="1008126"/>
            <a:ext cx="267462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175"/>
          </a:bodyPr>
          <a:lstStyle xmlns:a="http://schemas.openxmlformats.org/drawingml/2006/main"/>
          <a:p xmlns:a="http://schemas.openxmlformats.org/drawingml/2006/main">
            <a:pPr>
              <a:defRPr sz="891" b="0">
                <a:solidFill>
                  <a:srgbClr val="93A79F"/>
                </a:solidFill>
                <a:latin typeface="Aptos"/>
                <a:ea typeface="Aptos"/>
                <a:cs typeface="Aptos"/>
              </a:defRPr>
            </a:pPr>
            <a:r>
              <a:rPr sz="891" b="0">
                <a:solidFill>
                  <a:srgbClr val="93A79F"/>
                </a:solidFill>
                <a:latin typeface="Aptos"/>
                <a:ea typeface="Aptos"/>
                <a:cs typeface="Aptos"/>
              </a:rPr>
              <a:t>Catálogo e pedidos para comércio local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816DA2-4269-47B4-B341-57E98E80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685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Catálogo que vira pedido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ECC12F-B299-4EE3-94F5-FF75EF279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628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BE8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BE8E2"/>
                </a:solidFill>
                <a:latin typeface="Aptos"/>
                <a:ea typeface="Aptos"/>
                <a:cs typeface="Aptos"/>
              </a:rPr>
              <a:t>O cliente escolhe no link da loja. A empresa recebe pelo WhatsApp ou controla tudo em comanda interna.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16CDFE-DB8C-4DEA-B292-608F8020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LIIST Commerce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4C2A61-B910-4986-9A74-DFFF02CA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7C9C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7C9C2"/>
                </a:solidFill>
                <a:latin typeface="Aptos"/>
                <a:ea typeface="Aptos"/>
                <a:cs typeface="Aptos"/>
              </a:rPr>
              <a:t>Pronto para restaurantes, farmácias, materiais de construção e lojas.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423648e8554aab"/>
          <a:srcRect xmlns:a="http://schemas.openxmlformats.org/drawingml/2006/main" l="0" t="26" r="0" b="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476250"/>
            <a:ext cx="2571750" cy="556260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6531D0-AD26-409B-BF66-8A208486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3850"/>
            <a:ext cx="2914650" cy="5867400"/>
          </a:xfrm>
          <a:prstGeom xmlns:a="http://schemas.openxmlformats.org/drawingml/2006/main" prst="roundRect">
            <a:avLst>
              <a:gd name="adj" fmla="val 2614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</p:spTree>
    <p:extLst>
      <p:ext uri="{BB962C8B-B14F-4D97-AF65-F5344CB8AC3E}">
        <p14:creationId xmlns:p14="http://schemas.microsoft.com/office/powerpoint/2010/main" val="12027601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EEBD00-7F2C-4575-AFB1-5F29D30B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5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6B52"/>
                </a:solidFill>
                <a:latin typeface="Aptos"/>
                <a:ea typeface="Aptos"/>
                <a:cs typeface="Aptos"/>
              </a:rPr>
              <a:t>Contexto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D7EAF5-9AC2-4029-A891-CF843F8F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723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11513"/>
                </a:solidFill>
                <a:latin typeface="Aptos"/>
                <a:ea typeface="Aptos"/>
                <a:cs typeface="Aptos"/>
              </a:rPr>
              <a:t>Venda começa no WhatsApp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6BBF63-87CB-4E01-8C25-590AE2BD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O LIIST Commerce organiza o passo seguinte: catálogo, carrinho, adicionais e comanda pronta.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73BF12-54F0-48CE-BF7A-E70F9D3D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52"/>
          </a:solidFill>
          <a:ln xmlns:a="http://schemas.openxmlformats.org/drawingml/2006/main" w="0">
            <a:solidFill>
              <a:srgbClr val="176B5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EED191-C5CE-4290-BD63-1C72F01F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513"/>
                </a:solidFill>
                <a:latin typeface="Aptos"/>
                <a:ea typeface="Aptos"/>
                <a:cs typeface="Aptos"/>
              </a:rPr>
              <a:t>Link da loja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682822-C374-4FF3-AA36-09924798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304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A empresa envia um link direto para o cliente escolher os produtos sem conversa picada.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4D3507-CCBD-4A9F-B6A1-9BEFE879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622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52"/>
          </a:solidFill>
          <a:ln xmlns:a="http://schemas.openxmlformats.org/drawingml/2006/main" w="0">
            <a:solidFill>
              <a:srgbClr val="176B5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2F52F9-6334-40E6-A44B-ED1C729D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337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513"/>
                </a:solidFill>
                <a:latin typeface="Aptos"/>
                <a:ea typeface="Aptos"/>
                <a:cs typeface="Aptos"/>
              </a:rPr>
              <a:t>Carrinho claro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2BABD0-FC9A-4D60-ACAE-FE0809C0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52800"/>
            <a:ext cx="304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O pedido reúne itens, quantidades, adicionais, entrega e observações antes do envio.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B6C0E3-F082-4835-90EC-D9EF87707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622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52"/>
          </a:solidFill>
          <a:ln xmlns:a="http://schemas.openxmlformats.org/drawingml/2006/main" w="0">
            <a:solidFill>
              <a:srgbClr val="176B5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FE17D8-E12E-4958-9D01-3BFE820D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337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513"/>
                </a:solidFill>
                <a:latin typeface="Aptos"/>
                <a:ea typeface="Aptos"/>
                <a:cs typeface="Aptos"/>
              </a:rPr>
              <a:t>Operação interna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454774-19C2-4A1B-955F-62E786F5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52800"/>
            <a:ext cx="304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A mesma estrutura atende mesa, cozinha, caixa e impressão quando a filial precisa controlar comandas.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1A7178-D7F7-4A65-B2F0-09395218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DF"/>
          </a:solidFill>
          <a:ln xmlns:a="http://schemas.openxmlformats.org/drawingml/2006/main" w="0">
            <a:solidFill>
              <a:srgbClr val="E5E5D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0C1743-57CC-461D-9056-A6F57CBFE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LIIST Commerce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C364C3-FDEE-48CF-9651-A172AFF1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332222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68B6A4-A0FB-4AC5-AB6E-FE4AF0166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5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6B52"/>
                </a:solidFill>
                <a:latin typeface="Aptos"/>
                <a:ea typeface="Aptos"/>
                <a:cs typeface="Aptos"/>
              </a:rPr>
              <a:t>Vitrine pública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D4C384-AFAF-4F0B-AEBD-F1A63C82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723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11513"/>
                </a:solidFill>
                <a:latin typeface="Aptos"/>
                <a:ea typeface="Aptos"/>
                <a:cs typeface="Aptos"/>
              </a:rPr>
              <a:t>Lojas disponíveis em uma página única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B1E5DB-2BE2-4F71-9F8F-EA65AEEF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A página inicial ajuda clientes a encontrar comércios próximos e abrir o catálogo da filial correta.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d446af0b3c47a3"/>
          <a:srcRect xmlns:a="http://schemas.openxmlformats.org/drawingml/2006/main" l="0" t="17367" r="0" b="173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2324100"/>
            <a:ext cx="7677150" cy="3409950"/>
          </a:xfrm>
          <a:prstGeom xmlns:a="http://schemas.openxmlformats.org/drawingml/2006/main" prst="roundRect">
            <a:avLst>
              <a:gd name="adj" fmla="val 2235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C723FB-2F2D-432C-BF37-3079E71E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7677150" cy="3409950"/>
          </a:xfrm>
          <a:prstGeom xmlns:a="http://schemas.openxmlformats.org/drawingml/2006/main" prst="roundRect">
            <a:avLst>
              <a:gd name="adj" fmla="val 223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CCEC7"/>
            </a:solidFill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b397790dd349c3"/>
          <a:stretch xmlns:a="http://schemas.openxmlformats.org/drawingml/2006/main"/>
        </p:blipFill>
        <p:spPr>
          <a:xfrm xmlns:a="http://schemas.openxmlformats.org/drawingml/2006/main">
            <a:off x="8877300" y="2571750"/>
            <a:ext cx="374904" cy="37490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BD3F5B-0D31-4673-B93E-75FABA5D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6504" y="2595182"/>
            <a:ext cx="1405890" cy="187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6563"/>
          </a:bodyPr>
          <a:lstStyle xmlns:a="http://schemas.openxmlformats.org/drawingml/2006/main"/>
          <a:p xmlns:a="http://schemas.openxmlformats.org/drawingml/2006/main">
            <a:pPr>
              <a:defRPr sz="1353" b="1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353" b="1">
                <a:solidFill>
                  <a:srgbClr val="111513"/>
                </a:solidFill>
                <a:latin typeface="Aptos"/>
                <a:ea typeface="Aptos"/>
                <a:cs typeface="Aptos"/>
              </a:rPr>
              <a:t>LIIST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116F36-7232-4029-A501-C3B68DFE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6504" y="2790444"/>
            <a:ext cx="1405890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125"/>
          </a:bodyPr>
          <a:lstStyle xmlns:a="http://schemas.openxmlformats.org/drawingml/2006/main"/>
          <a:p xmlns:a="http://schemas.openxmlformats.org/drawingml/2006/main">
            <a:pPr>
              <a:defRPr sz="800" b="0">
                <a:solidFill>
                  <a:srgbClr val="176B52"/>
                </a:solidFill>
                <a:latin typeface="Aptos"/>
                <a:ea typeface="Aptos"/>
                <a:cs typeface="Aptos"/>
              </a:defRPr>
            </a:pPr>
            <a:r>
              <a:rPr sz="800" b="0">
                <a:solidFill>
                  <a:srgbClr val="176B52"/>
                </a:solidFill>
                <a:latin typeface="Aptos"/>
                <a:ea typeface="Aptos"/>
                <a:cs typeface="Aptos"/>
              </a:rPr>
              <a:t>Commerce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225E29-492C-4829-8E35-FA06A868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90900"/>
            <a:ext cx="238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513"/>
                </a:solidFill>
                <a:latin typeface="Aptos"/>
                <a:ea typeface="Aptos"/>
                <a:cs typeface="Aptos"/>
              </a:rPr>
              <a:t>A marca LIIST aparece como plataforma. Cada loja continua com nome, foto, capa e cor tema próprios.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7A6078-86B5-424A-84A4-915B9DF6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78155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383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O link direto da loja abre somente o catálogo daquele comércio.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B20C71-A1E9-443B-9CD0-20D669EB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DF"/>
          </a:solidFill>
          <a:ln xmlns:a="http://schemas.openxmlformats.org/drawingml/2006/main" w="0">
            <a:solidFill>
              <a:srgbClr val="E5E5D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A48977-6D8A-446C-9F09-5269131E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LIIST Commerce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8FC7D8-E5C9-4363-9C5D-B4A54301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250881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BD3258-456A-44ED-B39A-7EC43560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5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6B52"/>
                </a:solidFill>
                <a:latin typeface="Aptos"/>
                <a:ea typeface="Aptos"/>
                <a:cs typeface="Aptos"/>
              </a:rPr>
              <a:t>Página da loja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B152D4-9051-4B43-95D4-E58CA4EF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723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11513"/>
                </a:solidFill>
                <a:latin typeface="Aptos"/>
                <a:ea typeface="Aptos"/>
                <a:cs typeface="Aptos"/>
              </a:rPr>
              <a:t>Identidade própria para cada comércio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3B3FDD-C4FD-44D3-8990-14D64BDB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A filial define capa, foto de perfil, cor tema, layout de produto e link de localização.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d4cbb64ba14d75"/>
          <a:srcRect xmlns:a="http://schemas.openxmlformats.org/drawingml/2006/main" l="0" t="11837" r="0" b="118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171700"/>
            <a:ext cx="6858000" cy="3562350"/>
          </a:xfrm>
          <a:prstGeom xmlns:a="http://schemas.openxmlformats.org/drawingml/2006/main" prst="roundRect">
            <a:avLst>
              <a:gd name="adj" fmla="val 2139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129B6B-E257-451E-823F-AC80BEE5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6858000" cy="3562350"/>
          </a:xfrm>
          <a:prstGeom xmlns:a="http://schemas.openxmlformats.org/drawingml/2006/main" prst="roundRect">
            <a:avLst>
              <a:gd name="adj" fmla="val 213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CCEC7"/>
            </a:solidFill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4abb144a974acc"/>
          <a:srcRect xmlns:a="http://schemas.openxmlformats.org/drawingml/2006/main" l="132" t="0" r="1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0" y="1428750"/>
            <a:ext cx="2019300" cy="4381500"/>
          </a:xfrm>
          <a:prstGeom xmlns:a="http://schemas.openxmlformats.org/drawingml/2006/main" prst="roundRect">
            <a:avLst>
              <a:gd name="adj" fmla="val 377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2FA9B9-39F9-4EFB-82CE-C7452F0D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28750"/>
            <a:ext cx="2019300" cy="4381500"/>
          </a:xfrm>
          <a:prstGeom xmlns:a="http://schemas.openxmlformats.org/drawingml/2006/main" prst="roundRect">
            <a:avLst>
              <a:gd name="adj" fmla="val 377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CCEC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E3E5DB-9A07-48FB-9B98-4A20F4ED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9245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O carrinho fica familiar para quem já compra por delivery, mas a loja não perde a própria marca.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A01E92-D9B0-4325-89C5-81C2846E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DF"/>
          </a:solidFill>
          <a:ln xmlns:a="http://schemas.openxmlformats.org/drawingml/2006/main" w="0">
            <a:solidFill>
              <a:srgbClr val="E5E5D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8ADD41-ACE9-4672-83B2-EF7AC59B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LIIST Commerce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A30C20-5CFD-4A6C-A641-CC344B16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696131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D47FA4-3838-4616-A5C9-CDDFBAA8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5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6B52"/>
                </a:solidFill>
                <a:latin typeface="Aptos"/>
                <a:ea typeface="Aptos"/>
                <a:cs typeface="Aptos"/>
              </a:rPr>
              <a:t>Acessos separados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87108B-784C-43B7-9CE6-DDDDF37E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723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11513"/>
                </a:solidFill>
                <a:latin typeface="Aptos"/>
                <a:ea typeface="Aptos"/>
                <a:cs typeface="Aptos"/>
              </a:rPr>
              <a:t>Cada perfil entra pelo lugar certo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F32F92-970B-4DC7-9E38-3E66065E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Administrador, proprietário, gerente de filial e operação não dividem a mesma tela de trabalho.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ca4d89fccf41e0"/>
          <a:srcRect xmlns:a="http://schemas.openxmlformats.org/drawingml/2006/main" l="0" t="10440" r="0" b="104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2190750"/>
            <a:ext cx="6191250" cy="3333750"/>
          </a:xfrm>
          <a:prstGeom xmlns:a="http://schemas.openxmlformats.org/drawingml/2006/main" prst="roundRect">
            <a:avLst>
              <a:gd name="adj" fmla="val 2286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3B7C8E-79F6-4A47-95A0-4B37460C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6191250" cy="3333750"/>
          </a:xfrm>
          <a:prstGeom xmlns:a="http://schemas.openxmlformats.org/drawingml/2006/main" prst="roundRect">
            <a:avLst>
              <a:gd name="adj" fmla="val 228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CCEC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FB49F7-82C7-4469-8292-B8BB459E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90750"/>
            <a:ext cx="3143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EF0F82-7BA2-48B4-B9A2-5E49F17E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00300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513"/>
                </a:solidFill>
                <a:latin typeface="Aptos"/>
                <a:ea typeface="Aptos"/>
                <a:cs typeface="Aptos"/>
              </a:rPr>
              <a:t>Permissões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50C140-8DE5-4E55-97EA-4D557B2D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33700"/>
            <a:ext cx="26860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FF2EC"/>
          </a:solidFill>
          <a:ln xmlns:a="http://schemas.openxmlformats.org/drawingml/2006/main" w="9525">
            <a:solidFill>
              <a:srgbClr val="BFDCC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4CCC54-0C6C-478B-9355-2B1D18DC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5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B52"/>
                </a:solidFill>
                <a:latin typeface="Aptos"/>
                <a:ea typeface="Aptos"/>
                <a:cs typeface="Aptos"/>
              </a:rPr>
              <a:t>Admin cria empresas e acessos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A8AE81-9E7A-40F9-9EB8-E4125E52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86150"/>
            <a:ext cx="26860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ECED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1F64B2-6C72-4DFF-AEEC-ECBBE6F3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00450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513"/>
                </a:solidFill>
                <a:latin typeface="Aptos"/>
                <a:ea typeface="Aptos"/>
                <a:cs typeface="Aptos"/>
              </a:rPr>
              <a:t>Proprietário gerencia a empresa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2779C4-B336-467A-BB62-12D50015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38600"/>
            <a:ext cx="26860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ECED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A39DC1-3001-4C29-8A5B-0043E11B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52900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513"/>
                </a:solidFill>
                <a:latin typeface="Aptos"/>
                <a:ea typeface="Aptos"/>
                <a:cs typeface="Aptos"/>
              </a:rPr>
              <a:t>Gerente cuida da filial permitida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16AFD4-D65C-4BD4-89FF-8ACFD358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91050"/>
            <a:ext cx="26860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ECED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54407C-E44A-4D54-8A87-61DB15BE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05350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513"/>
                </a:solidFill>
                <a:latin typeface="Aptos"/>
                <a:ea typeface="Aptos"/>
                <a:cs typeface="Aptos"/>
              </a:rPr>
              <a:t>Operação atende, cozinha e caixa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C912A5-1771-4F1F-A816-82A978F4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DF"/>
          </a:solidFill>
          <a:ln xmlns:a="http://schemas.openxmlformats.org/drawingml/2006/main" w="0">
            <a:solidFill>
              <a:srgbClr val="E5E5D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1BA7C6-A00E-4458-828E-9D37E076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LIIST Commerce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D2B0F7-CA72-45A2-BB8C-F2A46819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748913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7DBC34-17AE-4BD7-909E-DB52B3209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5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6B52"/>
                </a:solidFill>
                <a:latin typeface="Aptos"/>
                <a:ea typeface="Aptos"/>
                <a:cs typeface="Aptos"/>
              </a:rPr>
              <a:t>Comanda interna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97D0A8-CA0B-4E18-A441-7256C430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723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51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11513"/>
                </a:solidFill>
                <a:latin typeface="Aptos"/>
                <a:ea typeface="Aptos"/>
                <a:cs typeface="Aptos"/>
              </a:rPr>
              <a:t>Pedido na mesa sem depender do WhatsApp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5CEA7-4134-493F-9253-1D753564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A filial escolhe o modo de operação por parâmetro e usa links próprios para mesa ou equipe.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9A1D9A-DCD1-45A3-8723-D9419982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3286125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3F69AE-D1D2-45F1-9889-B607621C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90800"/>
            <a:ext cx="2828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513"/>
                </a:solidFill>
                <a:latin typeface="Aptos"/>
                <a:ea typeface="Aptos"/>
                <a:cs typeface="Aptos"/>
              </a:rPr>
              <a:t>Atendimento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A08944-4E1E-4B34-A8C5-0461E3B6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24200"/>
            <a:ext cx="28289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ECEDE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930E7F-041C-452C-9A56-55900222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38500"/>
            <a:ext cx="2486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513"/>
                </a:solidFill>
                <a:latin typeface="Aptos"/>
                <a:ea typeface="Aptos"/>
                <a:cs typeface="Aptos"/>
              </a:rPr>
              <a:t>Mesa aberta ou link da equipe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0F91CF-2CA8-4F49-B784-B75658C7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76650"/>
            <a:ext cx="28289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FF2EC"/>
          </a:solidFill>
          <a:ln xmlns:a="http://schemas.openxmlformats.org/drawingml/2006/main" w="9525">
            <a:solidFill>
              <a:srgbClr val="BFDCC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F33B6D-C545-4C09-9D7A-576C6142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90950"/>
            <a:ext cx="2486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5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B52"/>
                </a:solidFill>
                <a:latin typeface="Aptos"/>
                <a:ea typeface="Aptos"/>
                <a:cs typeface="Aptos"/>
              </a:rPr>
              <a:t>Adicionar itens à comanda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EA8E0C-A753-41BF-952C-EF79D138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29100"/>
            <a:ext cx="28289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ECED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BB77F3-5383-4A24-AFD2-26260AFD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43400"/>
            <a:ext cx="2486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513"/>
                </a:solidFill>
                <a:latin typeface="Aptos"/>
                <a:ea typeface="Aptos"/>
                <a:cs typeface="Aptos"/>
              </a:rPr>
              <a:t>Solicitar fechamento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C7DD1C-322F-460D-93FB-17BE6D43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81250"/>
            <a:ext cx="3286125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C2AE6D-4201-4DB2-83C9-1F715985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90800"/>
            <a:ext cx="2828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513"/>
                </a:solidFill>
                <a:latin typeface="Aptos"/>
                <a:ea typeface="Aptos"/>
                <a:cs typeface="Aptos"/>
              </a:rPr>
              <a:t>Produção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36514C-79D1-4FA4-8261-6997CA23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24200"/>
            <a:ext cx="28289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ECED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8CCB26-A413-4C53-BC55-61295190C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38500"/>
            <a:ext cx="2486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513"/>
                </a:solidFill>
                <a:latin typeface="Aptos"/>
                <a:ea typeface="Aptos"/>
                <a:cs typeface="Aptos"/>
              </a:rPr>
              <a:t>Comanda entra na fila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F7A372-DD08-4CA1-B1C7-FBB65F21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76650"/>
            <a:ext cx="28289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FF2EC"/>
          </a:solidFill>
          <a:ln xmlns:a="http://schemas.openxmlformats.org/drawingml/2006/main" w="9525">
            <a:solidFill>
              <a:srgbClr val="BFDCC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940318-D120-4CD8-84EE-2DA1B6C8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90950"/>
            <a:ext cx="2486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5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B52"/>
                </a:solidFill>
                <a:latin typeface="Aptos"/>
                <a:ea typeface="Aptos"/>
                <a:cs typeface="Aptos"/>
              </a:rPr>
              <a:t>Marcar pedido pronto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83173D-0E05-4FEF-8825-43FA26BB0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229100"/>
            <a:ext cx="28289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ECED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8CC1EA-832E-4C28-A7FD-3204C472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343400"/>
            <a:ext cx="2486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513"/>
                </a:solidFill>
                <a:latin typeface="Aptos"/>
                <a:ea typeface="Aptos"/>
                <a:cs typeface="Aptos"/>
              </a:rPr>
              <a:t>Aviso para o atendimento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C981E7-858D-4364-9FDD-BF7CF187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81250"/>
            <a:ext cx="3286125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C50DDB-1319-4AE7-B039-237971C8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90800"/>
            <a:ext cx="2828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513"/>
                </a:solidFill>
                <a:latin typeface="Aptos"/>
                <a:ea typeface="Aptos"/>
                <a:cs typeface="Aptos"/>
              </a:rPr>
              <a:t>Caixa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A37628-77AA-4181-921F-583DAF0C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24200"/>
            <a:ext cx="28289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ECED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D7385C-CF3E-45B0-AAC0-665E699A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38500"/>
            <a:ext cx="2486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513"/>
                </a:solidFill>
                <a:latin typeface="Aptos"/>
                <a:ea typeface="Aptos"/>
                <a:cs typeface="Aptos"/>
              </a:rPr>
              <a:t>Conferir consumo da mesa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C19CE8-3700-4E0D-8E9B-38B641C8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76650"/>
            <a:ext cx="28289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FF2EC"/>
          </a:solidFill>
          <a:ln xmlns:a="http://schemas.openxmlformats.org/drawingml/2006/main" w="9525">
            <a:solidFill>
              <a:srgbClr val="BFDCC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544FB6-C0A5-4A72-A73D-340DE32C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90950"/>
            <a:ext cx="2486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5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B52"/>
                </a:solidFill>
                <a:latin typeface="Aptos"/>
                <a:ea typeface="Aptos"/>
                <a:cs typeface="Aptos"/>
              </a:rPr>
              <a:t>Confirmar pagamento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2BD1DD-F29F-4C75-9A17-3367E7D38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29100"/>
            <a:ext cx="28289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ECED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22BE2E-F49F-40FA-8975-B34FB5F3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43400"/>
            <a:ext cx="2486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513"/>
                </a:solidFill>
                <a:latin typeface="Aptos"/>
                <a:ea typeface="Aptos"/>
                <a:cs typeface="Aptos"/>
              </a:rPr>
              <a:t>Liberar mesa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77A47D-70DE-45B4-BC66-1551EBBB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DF"/>
          </a:solidFill>
          <a:ln xmlns:a="http://schemas.openxmlformats.org/drawingml/2006/main" w="0">
            <a:solidFill>
              <a:srgbClr val="E5E5D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F208BA-6888-4B99-9E0A-118FB279C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LIIST Commerce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290283-B8BF-4F79-B560-5E2A9997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125642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DF1DD1-F70C-4546-8F3D-4D6BF35C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5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6B52"/>
                </a:solidFill>
                <a:latin typeface="Aptos"/>
                <a:ea typeface="Aptos"/>
                <a:cs typeface="Aptos"/>
              </a:rPr>
              <a:t>Impressão local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47BCA1-8AC1-43A7-9155-5E587792A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723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11513"/>
                </a:solidFill>
                <a:latin typeface="Aptos"/>
                <a:ea typeface="Aptos"/>
                <a:cs typeface="Aptos"/>
              </a:rPr>
              <a:t>Agente instalado por filial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335446-2C7A-4BC1-856D-4E16215C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O instalador configura a impressora no computador da loja e mantém o agente iniciando com o Windows.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18C6EA-3D4D-4134-AF24-185427CF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37147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E5B5A5-0D57-4A11-8E1F-11957558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90800"/>
            <a:ext cx="3257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513"/>
                </a:solidFill>
                <a:latin typeface="Aptos"/>
                <a:ea typeface="Aptos"/>
                <a:cs typeface="Aptos"/>
              </a:rPr>
              <a:t>No painel admin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B8B6AD-D61C-4EB1-BA92-4D32E64DD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24200"/>
            <a:ext cx="3257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FF2EC"/>
          </a:solidFill>
          <a:ln xmlns:a="http://schemas.openxmlformats.org/drawingml/2006/main" w="9525">
            <a:solidFill>
              <a:srgbClr val="BFDCC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D30A07-8E3F-45B4-9928-C6E941FA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5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B52"/>
                </a:solidFill>
                <a:latin typeface="Aptos"/>
                <a:ea typeface="Aptos"/>
                <a:cs typeface="Aptos"/>
              </a:rPr>
              <a:t>Parâmetro por filial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8ADFD0-3AB0-439F-9803-47C49C40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76650"/>
            <a:ext cx="3257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ECED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E2B158-7077-4EA5-8F85-0AB98D6A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9095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513"/>
                </a:solidFill>
                <a:latin typeface="Aptos"/>
                <a:ea typeface="Aptos"/>
                <a:cs typeface="Aptos"/>
              </a:rPr>
              <a:t>Manual, automática ou ambas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BDE7A8-ACD7-4C70-B08A-F1FAEB6C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3257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ECED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120F9F-7776-4627-82EF-477DE552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4340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513"/>
                </a:solidFill>
                <a:latin typeface="Aptos"/>
                <a:ea typeface="Aptos"/>
                <a:cs typeface="Aptos"/>
              </a:rPr>
              <a:t>Download do instalador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DA276E-EBF8-4E22-8BDE-5FE89CE98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381250"/>
            <a:ext cx="37147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4BA82C-A250-4190-95B9-6B205672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90800"/>
            <a:ext cx="3257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513"/>
                </a:solidFill>
                <a:latin typeface="Aptos"/>
                <a:ea typeface="Aptos"/>
                <a:cs typeface="Aptos"/>
              </a:rPr>
              <a:t>No computador da loja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C77A25-9E5C-4459-B47D-93A62E0CE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24200"/>
            <a:ext cx="3257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ECED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C39D40-31DB-4E8D-8D6D-18E32D8E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23850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513"/>
                </a:solidFill>
                <a:latin typeface="Aptos"/>
                <a:ea typeface="Aptos"/>
                <a:cs typeface="Aptos"/>
              </a:rPr>
              <a:t>Selecionar impressora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23725A-1E7C-4F52-B631-794976B6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76650"/>
            <a:ext cx="3257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FF2EC"/>
          </a:solidFill>
          <a:ln xmlns:a="http://schemas.openxmlformats.org/drawingml/2006/main" w="9525">
            <a:solidFill>
              <a:srgbClr val="BFDCC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A03DDF-4AE8-4E18-8715-2C52AF874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79095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5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B52"/>
                </a:solidFill>
                <a:latin typeface="Aptos"/>
                <a:ea typeface="Aptos"/>
                <a:cs typeface="Aptos"/>
              </a:rPr>
              <a:t>Salvar configuração local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490141-AB87-454C-870C-567144C6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229100"/>
            <a:ext cx="3257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ECED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3C896B-78C5-4246-B9E9-DA00850F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34340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513"/>
                </a:solidFill>
                <a:latin typeface="Aptos"/>
                <a:ea typeface="Aptos"/>
                <a:cs typeface="Aptos"/>
              </a:rPr>
              <a:t>Rodar no login do Windows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A51A0C-885E-49E8-9517-FF97CDD8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724150"/>
            <a:ext cx="2190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513"/>
                </a:solidFill>
                <a:latin typeface="Aptos"/>
                <a:ea typeface="Aptos"/>
                <a:cs typeface="Aptos"/>
              </a:rPr>
              <a:t>A loja pode imprimir uma comanda automaticamente e reimprimir pelo painel quando precisar.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76F03D-B45A-46B1-A57D-D037FBBD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DF"/>
          </a:solidFill>
          <a:ln xmlns:a="http://schemas.openxmlformats.org/drawingml/2006/main" w="0">
            <a:solidFill>
              <a:srgbClr val="E5E5D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40243F-5EDA-4654-84DE-E05CA12C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LIIST Commerce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E89DDC-4657-45F0-976C-46AA52B6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482170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F15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a4b34985a243e3"/>
          <a:stretch xmlns:a="http://schemas.openxmlformats.org/drawingml/2006/main"/>
        </p:blipFill>
        <p:spPr>
          <a:xfrm xmlns:a="http://schemas.openxmlformats.org/drawingml/2006/main">
            <a:off x="704850" y="62865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4F93F8-5CCF-43DA-8AB6-CF06D7970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572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4545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F7795F-B117-42B0-9C5A-9948BE34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895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FD4C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FD4CC"/>
                </a:solidFill>
                <a:latin typeface="Aptos"/>
                <a:ea typeface="Aptos"/>
                <a:cs typeface="Aptos"/>
              </a:rPr>
              <a:t>Commerce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EC2E40-A01E-42D0-83E4-1E7275DA3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0858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3A7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3A79F"/>
                </a:solidFill>
                <a:latin typeface="Aptos"/>
                <a:ea typeface="Aptos"/>
                <a:cs typeface="Aptos"/>
              </a:rPr>
              <a:t>Piloto comercial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B8F3F6-87ED-4826-BD3C-DA05E9C7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647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Começar com uma filial piloto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C55A1E-A536-4E0D-9AEA-451C9A96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3370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BE8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BE8E2"/>
                </a:solidFill>
                <a:latin typeface="Aptos"/>
                <a:ea typeface="Aptos"/>
                <a:cs typeface="Aptos"/>
              </a:rPr>
              <a:t>Cadastro da empresa, catálogo inicial, link de venda e teste de comanda interna em ambiente real.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BF2D57-54E4-4163-866B-F781F04D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102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LIIST Commerce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59F8F5-E2BD-475F-9B19-045E8CDA2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912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9C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7C9C2"/>
                </a:solidFill>
                <a:latin typeface="Aptos"/>
                <a:ea typeface="Aptos"/>
                <a:cs typeface="Aptos"/>
              </a:rPr>
              <a:t>Catálogo, carrinho e comanda para comércio local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1A1594-683D-44B6-B097-43F4DB1E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352550"/>
            <a:ext cx="3143250" cy="33337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A5BBD5-2CBC-4416-890F-00AD0D14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62100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513"/>
                </a:solidFill>
                <a:latin typeface="Aptos"/>
                <a:ea typeface="Aptos"/>
                <a:cs typeface="Aptos"/>
              </a:rPr>
              <a:t>Piloto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349F87-383F-46E1-8E4B-5357FA43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95500"/>
            <a:ext cx="26860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FF2EC"/>
          </a:solidFill>
          <a:ln xmlns:a="http://schemas.openxmlformats.org/drawingml/2006/main" w="9525">
            <a:solidFill>
              <a:srgbClr val="BFDC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727A32-F72C-425D-9377-6D28C0EF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09800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5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B52"/>
                </a:solidFill>
                <a:latin typeface="Aptos"/>
                <a:ea typeface="Aptos"/>
                <a:cs typeface="Aptos"/>
              </a:rPr>
              <a:t>1 filial configurada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F4EBB0-356A-4A56-B560-24ED678C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47950"/>
            <a:ext cx="26860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ECED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15C775-D9A6-4D5A-A3E6-765060062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62250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513"/>
                </a:solidFill>
                <a:latin typeface="Aptos"/>
                <a:ea typeface="Aptos"/>
                <a:cs typeface="Aptos"/>
              </a:rPr>
              <a:t>Produtos importados por planilha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76494C-DFBF-4F60-8AB8-DD3CA438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00400"/>
            <a:ext cx="26860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ECEDE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3FC103-C7E7-43A4-AFE5-62288B3B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14700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513"/>
                </a:solidFill>
                <a:latin typeface="Aptos"/>
                <a:ea typeface="Aptos"/>
                <a:cs typeface="Aptos"/>
              </a:rPr>
              <a:t>Pedido pelo WhatsApp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C70E5F-29A8-4FD3-8A55-398DC8E1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52850"/>
            <a:ext cx="26860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ECEDE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885D2B-A5C0-403D-BFFA-1A24658F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67150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513"/>
                </a:solidFill>
                <a:latin typeface="Aptos"/>
                <a:ea typeface="Aptos"/>
                <a:cs typeface="Aptos"/>
              </a:rPr>
              <a:t>Comanda interna e impressão</a:t>
            </a:r>
          </a:p>
        </p:txBody>
      </p:sp>
    </p:spTree>
    <p:extLst>
      <p:ext uri="{BB962C8B-B14F-4D97-AF65-F5344CB8AC3E}">
        <p14:creationId xmlns:p14="http://schemas.microsoft.com/office/powerpoint/2010/main" val="465862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2026-09-10T00:20:36.5930000Z</dcterms:created>
  <dcterms:modified xsi:type="dcterms:W3CDTF">2026-09-10T00:20:36.5930000Z</dcterms:modified>
</coreProperties>
</file>